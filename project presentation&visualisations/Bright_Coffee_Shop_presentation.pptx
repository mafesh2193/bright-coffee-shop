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Revenue</c:v>
          </c:tx>
          <c:spPr>
            <a:ln w="28575">
              <a:solidFill>
                <a:srgbClr val="946544"/>
              </a:solidFill>
            </a:ln>
          </c:spPr>
          <c:marker>
            <c:symbol val="none"/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75">
                    <a:solidFill>
                      <a:srgbClr val="35251D"/>
                    </a:solidFill>
                    <a:latin typeface="DejaVu Sans"/>
                    <a:ea typeface="DejaVu Sans"/>
                    <a:cs typeface="DejaVu San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'Chart Data'!$A$2:$A$7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'Chart Data'!$B$2:$B$7</c:f>
              <c:numCache>
                <c:formatCode>#,##0</c:formatCode>
                <c:ptCount val="6"/>
                <c:pt idx="0">
                  <c:v>81677.740000000005</c:v>
                </c:pt>
                <c:pt idx="1">
                  <c:v>76145.19</c:v>
                </c:pt>
                <c:pt idx="2">
                  <c:v>98834.68</c:v>
                </c:pt>
                <c:pt idx="3">
                  <c:v>118941.08</c:v>
                </c:pt>
                <c:pt idx="4">
                  <c:v>156727.76</c:v>
                </c:pt>
                <c:pt idx="5">
                  <c:v>166485.88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3AF-4D0F-AE32-209523C5B21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>
                    <a:latin typeface="DejaVu Sans"/>
                    <a:ea typeface="DejaVu Sans"/>
                    <a:cs typeface="DejaVu Sans"/>
                  </a:rPr>
                  <a:t>Month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756557"/>
            </a:solidFill>
          </a:ln>
        </c:spPr>
        <c:txPr>
          <a:bodyPr anchorCtr="1"/>
          <a:lstStyle/>
          <a:p>
            <a:pPr>
              <a:defRPr sz="1350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DFD3C5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dirty="0">
                    <a:latin typeface="DejaVu Sans"/>
                    <a:ea typeface="DejaVu Sans"/>
                    <a:cs typeface="DejaVu Sans"/>
                  </a:rPr>
                  <a:t>Revenue </a:t>
                </a:r>
              </a:p>
            </c:rich>
          </c:tx>
          <c:layout/>
          <c:overlay val="0"/>
        </c:title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Revenue</c:v>
          </c:tx>
          <c:spPr>
            <a:solidFill>
              <a:srgbClr val="946544"/>
            </a:solidFill>
            <a:ln w="28575">
              <a:solidFill>
                <a:srgbClr val="946544"/>
              </a:solidFill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75">
                    <a:solidFill>
                      <a:srgbClr val="35251D"/>
                    </a:solidFill>
                    <a:latin typeface="DejaVu Sans"/>
                    <a:ea typeface="DejaVu Sans"/>
                    <a:cs typeface="DejaVu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'Chart Data'!$A$2:$A$10</c:f>
              <c:strCache>
                <c:ptCount val="9"/>
                <c:pt idx="0">
                  <c:v>Coffee</c:v>
                </c:pt>
                <c:pt idx="1">
                  <c:v>Tea</c:v>
                </c:pt>
                <c:pt idx="2">
                  <c:v>Bakery</c:v>
                </c:pt>
                <c:pt idx="3">
                  <c:v>Drinking Chocolate</c:v>
                </c:pt>
                <c:pt idx="4">
                  <c:v>Coffee beans</c:v>
                </c:pt>
                <c:pt idx="5">
                  <c:v>Branded</c:v>
                </c:pt>
                <c:pt idx="6">
                  <c:v>Loose Tea</c:v>
                </c:pt>
                <c:pt idx="7">
                  <c:v>Flavours</c:v>
                </c:pt>
                <c:pt idx="8">
                  <c:v>Packaged Chocolate</c:v>
                </c:pt>
              </c:strCache>
            </c:strRef>
          </c:cat>
          <c:val>
            <c:numRef>
              <c:f>'Chart Data'!$B$2:$B$10</c:f>
              <c:numCache>
                <c:formatCode>#,##0</c:formatCode>
                <c:ptCount val="9"/>
                <c:pt idx="0">
                  <c:v>269952.45</c:v>
                </c:pt>
                <c:pt idx="1">
                  <c:v>196405.95</c:v>
                </c:pt>
                <c:pt idx="2">
                  <c:v>82315.64</c:v>
                </c:pt>
                <c:pt idx="3">
                  <c:v>72416</c:v>
                </c:pt>
                <c:pt idx="4">
                  <c:v>40085.25</c:v>
                </c:pt>
                <c:pt idx="5">
                  <c:v>13607</c:v>
                </c:pt>
                <c:pt idx="6">
                  <c:v>11213.6</c:v>
                </c:pt>
                <c:pt idx="7">
                  <c:v>8408.7999999999993</c:v>
                </c:pt>
                <c:pt idx="8">
                  <c:v>4407.6400000000003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8575">
                    <a:solidFill>
                      <a:srgbClr val="94654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ECC-49A2-9AB9-3B3B6D062B5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DejaVu Sans"/>
                    <a:ea typeface="DejaVu Sans"/>
                    <a:cs typeface="DejaVu Sans"/>
                  </a:rPr>
                  <a:t>Product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756557"/>
            </a:solidFill>
          </a:ln>
        </c:spPr>
        <c:txPr>
          <a:bodyPr anchorCtr="1"/>
          <a:lstStyle/>
          <a:p>
            <a:pPr>
              <a:defRPr sz="1350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b"/>
        <c:majorGridlines>
          <c:spPr>
            <a:ln w="9525">
              <a:solidFill>
                <a:srgbClr val="DFD3C5"/>
              </a:solidFill>
            </a:ln>
          </c:spPr>
        </c:majorGridlines>
        <c:title>
          <c:tx>
            <c:rich>
              <a:bodyPr/>
              <a:lstStyle/>
              <a:p>
                <a:pPr algn="ctr"/>
                <a:r>
                  <a:rPr lang="en-US" dirty="0">
                    <a:latin typeface="DejaVu Sans"/>
                    <a:ea typeface="DejaVu Sans"/>
                    <a:cs typeface="DejaVu Sans"/>
                  </a:rPr>
                  <a:t>Revenue </a:t>
                </a:r>
              </a:p>
            </c:rich>
          </c:tx>
          <c:layout/>
          <c:overlay val="0"/>
        </c:title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Revenue</c:v>
          </c:tx>
          <c:spPr>
            <a:solidFill>
              <a:srgbClr val="946544"/>
            </a:solidFill>
            <a:ln w="28575">
              <a:solidFill>
                <a:srgbClr val="946544"/>
              </a:solidFill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75">
                    <a:solidFill>
                      <a:srgbClr val="35251D"/>
                    </a:solidFill>
                    <a:latin typeface="DejaVu Sans"/>
                    <a:ea typeface="DejaVu Sans"/>
                    <a:cs typeface="DejaVu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'Chart Data'!$A$2:$A$7</c:f>
              <c:strCache>
                <c:ptCount val="6"/>
                <c:pt idx="0">
                  <c:v>Barista Espresso</c:v>
                </c:pt>
                <c:pt idx="1">
                  <c:v>Brewed Chai tea</c:v>
                </c:pt>
                <c:pt idx="2">
                  <c:v>Hot chocolate</c:v>
                </c:pt>
                <c:pt idx="3">
                  <c:v>Gourmet brewed coffee</c:v>
                </c:pt>
                <c:pt idx="4">
                  <c:v>Brewed Black tea</c:v>
                </c:pt>
                <c:pt idx="5">
                  <c:v>Brewed herbal tea</c:v>
                </c:pt>
              </c:strCache>
            </c:strRef>
          </c:cat>
          <c:val>
            <c:numRef>
              <c:f>'Chart Data'!$B$2:$B$7</c:f>
              <c:numCache>
                <c:formatCode>#,##0</c:formatCode>
                <c:ptCount val="6"/>
                <c:pt idx="0">
                  <c:v>91406.2</c:v>
                </c:pt>
                <c:pt idx="1">
                  <c:v>77081.95</c:v>
                </c:pt>
                <c:pt idx="2">
                  <c:v>72416</c:v>
                </c:pt>
                <c:pt idx="3">
                  <c:v>70034.600000000006</c:v>
                </c:pt>
                <c:pt idx="4">
                  <c:v>47932</c:v>
                </c:pt>
                <c:pt idx="5">
                  <c:v>47539.5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8575">
                    <a:solidFill>
                      <a:srgbClr val="94654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59F-4A2B-8549-6CD30FFBD0D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DejaVu Sans"/>
                    <a:ea typeface="DejaVu Sans"/>
                    <a:cs typeface="DejaVu Sans"/>
                  </a:rPr>
                  <a:t>Product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756557"/>
            </a:solidFill>
          </a:ln>
        </c:spPr>
        <c:txPr>
          <a:bodyPr anchorCtr="1"/>
          <a:lstStyle/>
          <a:p>
            <a:pPr>
              <a:defRPr sz="1350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b"/>
        <c:majorGridlines>
          <c:spPr>
            <a:ln w="9525">
              <a:solidFill>
                <a:srgbClr val="DFD3C5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dirty="0">
                    <a:latin typeface="DejaVu Sans"/>
                    <a:ea typeface="DejaVu Sans"/>
                    <a:cs typeface="DejaVu Sans"/>
                  </a:rPr>
                  <a:t>Revenue </a:t>
                </a:r>
              </a:p>
            </c:rich>
          </c:tx>
          <c:layout/>
          <c:overlay val="0"/>
        </c:title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Units sold</c:v>
          </c:tx>
          <c:spPr>
            <a:solidFill>
              <a:srgbClr val="946544"/>
            </a:solidFill>
            <a:ln w="28575">
              <a:solidFill>
                <a:srgbClr val="946544"/>
              </a:solidFill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75">
                    <a:solidFill>
                      <a:srgbClr val="35251D"/>
                    </a:solidFill>
                    <a:latin typeface="DejaVu Sans"/>
                    <a:ea typeface="DejaVu Sans"/>
                    <a:cs typeface="DejaVu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'Chart Data'!$A$2:$A$7</c:f>
              <c:strCache>
                <c:ptCount val="6"/>
                <c:pt idx="0">
                  <c:v>Brewed Chai tea</c:v>
                </c:pt>
                <c:pt idx="1">
                  <c:v>Gourmet brewed coffee</c:v>
                </c:pt>
                <c:pt idx="2">
                  <c:v>Barista Espresso</c:v>
                </c:pt>
                <c:pt idx="3">
                  <c:v>Brewed Black tea</c:v>
                </c:pt>
                <c:pt idx="4">
                  <c:v>Hot chocolate</c:v>
                </c:pt>
                <c:pt idx="5">
                  <c:v>Brewed herbal tea</c:v>
                </c:pt>
              </c:strCache>
            </c:strRef>
          </c:cat>
          <c:val>
            <c:numRef>
              <c:f>'Chart Data'!$B$2:$B$7</c:f>
              <c:numCache>
                <c:formatCode>#,##0</c:formatCode>
                <c:ptCount val="6"/>
                <c:pt idx="0">
                  <c:v>26250</c:v>
                </c:pt>
                <c:pt idx="1">
                  <c:v>25973</c:v>
                </c:pt>
                <c:pt idx="2">
                  <c:v>24943</c:v>
                </c:pt>
                <c:pt idx="3">
                  <c:v>17462</c:v>
                </c:pt>
                <c:pt idx="4">
                  <c:v>17457</c:v>
                </c:pt>
                <c:pt idx="5">
                  <c:v>17328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8575">
                    <a:solidFill>
                      <a:srgbClr val="94654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ECE3-4518-BAC1-2BE4A88CEE2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DejaVu Sans"/>
                    <a:ea typeface="DejaVu Sans"/>
                    <a:cs typeface="DejaVu Sans"/>
                  </a:rPr>
                  <a:t>Product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756557"/>
            </a:solidFill>
          </a:ln>
        </c:spPr>
        <c:txPr>
          <a:bodyPr anchorCtr="1"/>
          <a:lstStyle/>
          <a:p>
            <a:pPr>
              <a:defRPr sz="1350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b"/>
        <c:majorGridlines>
          <c:spPr>
            <a:ln w="9525">
              <a:solidFill>
                <a:srgbClr val="DFD3C5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>
                    <a:latin typeface="DejaVu Sans"/>
                    <a:ea typeface="DejaVu Sans"/>
                    <a:cs typeface="DejaVu Sans"/>
                  </a:rPr>
                  <a:t>Units sold</a:t>
                </a:r>
              </a:p>
            </c:rich>
          </c:tx>
          <c:layout/>
          <c:overlay val="0"/>
        </c:title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Revenue</c:v>
          </c:tx>
          <c:spPr>
            <a:solidFill>
              <a:srgbClr val="946544"/>
            </a:solidFill>
            <a:ln w="28575">
              <a:solidFill>
                <a:srgbClr val="946544"/>
              </a:solidFill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75">
                    <a:solidFill>
                      <a:srgbClr val="35251D"/>
                    </a:solidFill>
                    <a:latin typeface="DejaVu Sans"/>
                    <a:ea typeface="DejaVu Sans"/>
                    <a:cs typeface="DejaVu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Morning</c:v>
                </c:pt>
                <c:pt idx="1">
                  <c:v>Afternoon</c:v>
                </c:pt>
                <c:pt idx="2">
                  <c:v>Evening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388288.67</c:v>
                </c:pt>
                <c:pt idx="1">
                  <c:v>244855.14</c:v>
                </c:pt>
                <c:pt idx="2">
                  <c:v>65668.52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8575">
                    <a:solidFill>
                      <a:srgbClr val="94654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E32-4609-A6D9-7089D361946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>
                    <a:latin typeface="DejaVu Sans"/>
                    <a:ea typeface="DejaVu Sans"/>
                    <a:cs typeface="DejaVu Sans"/>
                  </a:rPr>
                  <a:t>Time classification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756557"/>
            </a:solidFill>
          </a:ln>
        </c:spPr>
        <c:txPr>
          <a:bodyPr anchorCtr="1"/>
          <a:lstStyle/>
          <a:p>
            <a:pPr>
              <a:defRPr sz="1350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DFD3C5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dirty="0">
                    <a:latin typeface="DejaVu Sans"/>
                    <a:ea typeface="DejaVu Sans"/>
                    <a:cs typeface="DejaVu Sans"/>
                  </a:rPr>
                  <a:t>Revenue </a:t>
                </a:r>
              </a:p>
            </c:rich>
          </c:tx>
          <c:layout/>
          <c:overlay val="0"/>
        </c:title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Revenue</c:v>
          </c:tx>
          <c:spPr>
            <a:solidFill>
              <a:srgbClr val="946544"/>
            </a:solidFill>
            <a:ln w="28575">
              <a:solidFill>
                <a:srgbClr val="946544"/>
              </a:solidFill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75">
                    <a:solidFill>
                      <a:srgbClr val="35251D"/>
                    </a:solidFill>
                    <a:latin typeface="DejaVu Sans"/>
                    <a:ea typeface="DejaVu Sans"/>
                    <a:cs typeface="DejaVu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'Chart Data'!$A$2:$A$8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'Chart Data'!$B$2:$B$8</c:f>
              <c:numCache>
                <c:formatCode>#,##0</c:formatCode>
                <c:ptCount val="7"/>
                <c:pt idx="0">
                  <c:v>101677.28</c:v>
                </c:pt>
                <c:pt idx="1">
                  <c:v>99455.94</c:v>
                </c:pt>
                <c:pt idx="2">
                  <c:v>100313.54</c:v>
                </c:pt>
                <c:pt idx="3">
                  <c:v>100767.78</c:v>
                </c:pt>
                <c:pt idx="4">
                  <c:v>101373</c:v>
                </c:pt>
                <c:pt idx="5">
                  <c:v>96894.48</c:v>
                </c:pt>
                <c:pt idx="6">
                  <c:v>98330.31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8575">
                    <a:solidFill>
                      <a:srgbClr val="94654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E278-4633-8627-2C366D1778D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>
                    <a:latin typeface="DejaVu Sans"/>
                    <a:ea typeface="DejaVu Sans"/>
                    <a:cs typeface="DejaVu Sans"/>
                  </a:rPr>
                  <a:t>Day of week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756557"/>
            </a:solidFill>
          </a:ln>
        </c:spPr>
        <c:txPr>
          <a:bodyPr anchorCtr="1"/>
          <a:lstStyle/>
          <a:p>
            <a:pPr>
              <a:defRPr sz="1350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DFD3C5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dirty="0">
                    <a:latin typeface="DejaVu Sans"/>
                    <a:ea typeface="DejaVu Sans"/>
                    <a:cs typeface="DejaVu Sans"/>
                  </a:rPr>
                  <a:t>Revenue </a:t>
                </a:r>
              </a:p>
            </c:rich>
          </c:tx>
          <c:layout/>
          <c:overlay val="0"/>
        </c:title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Revenue</c:v>
          </c:tx>
          <c:spPr>
            <a:solidFill>
              <a:srgbClr val="946544"/>
            </a:solidFill>
            <a:ln w="28575">
              <a:solidFill>
                <a:srgbClr val="946544"/>
              </a:solidFill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75">
                    <a:solidFill>
                      <a:srgbClr val="35251D"/>
                    </a:solidFill>
                    <a:latin typeface="DejaVu Sans"/>
                    <a:ea typeface="DejaVu Sans"/>
                    <a:cs typeface="DejaVu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Hell's Kitchen</c:v>
                </c:pt>
                <c:pt idx="1">
                  <c:v>Astoria</c:v>
                </c:pt>
                <c:pt idx="2">
                  <c:v>Lower Manhattan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236511.17</c:v>
                </c:pt>
                <c:pt idx="1">
                  <c:v>232243.91</c:v>
                </c:pt>
                <c:pt idx="2">
                  <c:v>230057.25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8575">
                    <a:solidFill>
                      <a:srgbClr val="94654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8B4-4BAD-B667-E8CB33289CD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>
                    <a:latin typeface="DejaVu Sans"/>
                    <a:ea typeface="DejaVu Sans"/>
                    <a:cs typeface="DejaVu Sans"/>
                  </a:rPr>
                  <a:t>Store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756557"/>
            </a:solidFill>
          </a:ln>
        </c:spPr>
        <c:txPr>
          <a:bodyPr anchorCtr="1"/>
          <a:lstStyle/>
          <a:p>
            <a:pPr>
              <a:defRPr sz="1350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DFD3C5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dirty="0">
                    <a:latin typeface="DejaVu Sans"/>
                    <a:ea typeface="DejaVu Sans"/>
                    <a:cs typeface="DejaVu Sans"/>
                  </a:rPr>
                  <a:t>Revenue </a:t>
                </a:r>
              </a:p>
            </c:rich>
          </c:tx>
          <c:layout/>
          <c:overlay val="0"/>
        </c:title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Presentation prepared for the CEO using the supplied case study and analysis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Bright_Coffee_Shop___Case_Study_Description(1).pdf, pages 2–4. Explain that the new CEO wants to grow revenue and improve product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coffee_shop(1).xlsx, result sheet. Period: January–June 2023. Values use the supplied revenue column. Currency is not confirmed because supplied dashboards use both R and $. Number of sales is SUM(number_of_sales), not a distinct transaction-ID count.</a:t>
            </a:r>
          </a:p>
          <a:p>
            <a:r>
              <a:t>The processed sheet has 148,702 rows and 14 fields. It lacks transaction IDs, original unit prices and exact times, so independent distinct-ID and 30-minute-bucket validation is unavailable.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coffee_shop(1).xlsx, result sheet. Period: January–June 2023. Values use the supplied revenue column. Currency is not confirmed because supplied dashboards use both R and $. Number of sales is SUM(number_of_sales), not a distinct transaction-ID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coffee_shop(1).xlsx, result sheet. Period: January–June 2023. Values use the supplied revenue column. Currency is not confirmed because supplied dashboards use both R and $. Number of sales is SUM(number_of_sales), not a distinct transaction-ID count.</a:t>
            </a:r>
          </a:p>
          <a:p>
            <a:r>
              <a:t>June versus January growth = (166485.88 / 81677.74 - 1) * 100. Revenue fell in February, then increased each month through June. Six months cannot establish annual seasonality.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coffee_shop(1).xlsx, result sheet. Period: January–June 2023. Values use the supplied revenue column. Currency is not confirmed because supplied dashboards use both R and $. Number of sales is SUM(number_of_sales), not a distinct transaction-ID count.</a:t>
            </a:r>
          </a:p>
          <a:p>
            <a:r>
              <a:t>Combined share = (269952.45 + 196405.95) / 698812.33. Coffee earns 269952.45 and tea 196405.95. Revenue share does not establish profitability.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coffee_shop(1).xlsx, result sheet. Period: January–June 2023. Values use the supplied revenue column. Currency is not confirmed because supplied dashboards use both R and $. Number of sales is SUM(number_of_sales), not a distinct transaction-ID count.</a:t>
            </a:r>
          </a:p>
          <a:p>
            <a:r>
              <a:t>Chart shows the six highest product types by revenue, not individual product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coffee_shop(1).xlsx, result sheet. Period: January–June 2023. Values use the supplied revenue column. Currency is not confirmed because supplied dashboards use both R and $. Number of sales is SUM(number_of_sales), not a distinct transaction-ID count.</a:t>
            </a:r>
          </a:p>
          <a:p>
            <a:r>
              <a:t>The supplied product pivot uses Count of units_sold, which counts processed rows. This chart uses SUM(units_sold), the correct quantity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coffee_shop(1).xlsx, result sheet. Period: January–June 2023. Values use the supplied revenue column. Currency is not confirmed because supplied dashboards use both R and $. Number of sales is SUM(number_of_sales), not a distinct transaction-ID count.</a:t>
            </a:r>
          </a:p>
          <a:p>
            <a:r>
              <a:t>Time-classification boundaries and store opening hours are not provided. Lower evening total does not prove lower hourly efficiency. Confirm exact time buckets before changing opening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coffee_shop(1).xlsx, result sheet. Period: January–June 2023. Values use the supplied revenue column. Currency is not confirmed because supplied dashboards use both R and $. Number of sales is SUM(number_of_sales), not a distinct transaction-ID count.</a:t>
            </a:r>
          </a:p>
          <a:p>
            <a:r>
              <a:t>These are cumulative totals. The period has unequal weekday counts, and months have different sales levels. Compare revenue per occurrence and by store before drawing scheduling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coffee_shop(1).xlsx, result sheet. Period: January–June 2023. Values use the supplied revenue column. Currency is not confirmed because supplied dashboards use both R and $. Number of sales is SUM(number_of_sales), not a distinct transaction-ID count.</a:t>
            </a:r>
          </a:p>
          <a:p>
            <a:r>
              <a:t>Store revenues: Hell’s Kitchen 236511.17, Astoria 232243.91, Lower Manhattan 230057.25. Revenue alone does not indicate store profitability.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coffee_shop(1).xlsx, result sheet. Period: January–June 2023. Values use the supplied revenue column. Currency is not confirmed because supplied dashboards use both R and $. Number of sales is SUM(number_of_sales), not a distinct transaction-ID count.</a:t>
            </a:r>
          </a:p>
          <a:p>
            <a:r>
              <a:t>These recommendations are proposed experiments, not proven causes or guaranteed outcomes. Profitability requires costs and margins.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Invite questions. Explain which findings come directly from totals and which actions need a trial. Be ready to distinguish revenue from profit and quantity from row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6648295-59E8-4338-A5EF-3FF6EDF66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302E9F3-79ED-4B04-A309-373FAD08D6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F00184E3-BC0D-4521-8CDD-67C108DC2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01EC50-4E56-4C15-BAB5-BEDECA78A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CB2A4DFC-0AF9-49F6-AD1F-C4F2E139E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482663D-92D9-44ED-82EA-C8A646B3E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F67EE60-A9F4-4A54-B02D-8C0082F75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A93404A0-A440-445F-AB5F-99D50773756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B597A24-4961-4455-A66A-944C2777F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81DC16E-6826-4C38-AD00-AA842C79C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25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090AD9-0DEF-40DD-B585-B00956AA52D2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F6F0E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F6F0E6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6F0E6"/>
                </a:solidFill>
                <a:latin typeface="DejaVu Sans"/>
                <a:ea typeface="DejaVu Sans"/>
                <a:cs typeface="DejaVu Sans"/>
              </a:rPr>
              <a:t>Bright Coffee Shop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14595D-0E79-4936-90C7-344AEB679824}"/>
              </a:ext>
            </a:extLst>
          </p:cNvPr>
          <p:cNvSpPr>
            <a:spLocks noGrp="1"/>
          </p:cNvSpPr>
          <p:nvPr/>
        </p:nvSpPr>
        <p:spPr>
          <a:xfrm>
            <a:off x="11144250" y="63722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F6F0E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F6F0E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6F0E6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3369A8-12FC-4DBF-A54B-4C3D8DE895C6}"/>
              </a:ext>
            </a:extLst>
          </p:cNvPr>
          <p:cNvSpPr>
            <a:spLocks noGrp="1"/>
          </p:cNvSpPr>
          <p:nvPr/>
        </p:nvSpPr>
        <p:spPr>
          <a:xfrm>
            <a:off x="619125" y="2047875"/>
            <a:ext cx="10477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5100" b="1">
                <a:solidFill>
                  <a:srgbClr val="F6F0E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5100" b="1">
                <a:solidFill>
                  <a:srgbClr val="F6F0E6"/>
                </a:solidFill>
                <a:latin typeface="DejaVu Sans"/>
                <a:ea typeface="DejaVu Sans"/>
                <a:cs typeface="DejaVu Sans"/>
              </a:defRPr>
            </a:pPr>
            <a:r>
              <a:rPr sz="5100" b="1">
                <a:solidFill>
                  <a:srgbClr val="F6F0E6"/>
                </a:solidFill>
                <a:latin typeface="DejaVu Sans"/>
                <a:ea typeface="DejaVu Sans"/>
                <a:cs typeface="DejaVu Sans"/>
              </a:rPr>
              <a:t>Sales 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9AA97F-D2A1-4F9D-8B4E-A261B025B6C5}"/>
              </a:ext>
            </a:extLst>
          </p:cNvPr>
          <p:cNvSpPr>
            <a:spLocks noGrp="1"/>
          </p:cNvSpPr>
          <p:nvPr/>
        </p:nvSpPr>
        <p:spPr>
          <a:xfrm>
            <a:off x="647700" y="3429000"/>
            <a:ext cx="95250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D7B89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250" b="0">
                <a:solidFill>
                  <a:srgbClr val="D7B89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D7B89B"/>
                </a:solidFill>
                <a:latin typeface="DejaVu Sans"/>
                <a:ea typeface="DejaVu Sans"/>
                <a:cs typeface="DejaVu Sans"/>
              </a:rPr>
              <a:t>January–June 2023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F2EC76-7241-4F55-A1A7-51B62BBC7E75}"/>
              </a:ext>
            </a:extLst>
          </p:cNvPr>
          <p:cNvSpPr>
            <a:spLocks noGrp="1"/>
          </p:cNvSpPr>
          <p:nvPr/>
        </p:nvSpPr>
        <p:spPr>
          <a:xfrm>
            <a:off x="647700" y="5238750"/>
            <a:ext cx="95250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F6F0E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875" b="0">
                <a:solidFill>
                  <a:srgbClr val="F6F0E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6F0E6"/>
                </a:solidFill>
                <a:latin typeface="DejaVu Sans"/>
                <a:ea typeface="DejaVu Sans"/>
                <a:cs typeface="DejaVu Sans"/>
              </a:rPr>
              <a:t>Presented by Alex Sibiya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6476" y="-333375"/>
            <a:ext cx="10058400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549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840A24C-E287-45BD-A954-FF5AEAA36587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Business objective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CC3E83-607A-4C14-9A2A-C2D268DAD13A}"/>
              </a:ext>
            </a:extLst>
          </p:cNvPr>
          <p:cNvSpPr>
            <a:spLocks noGrp="1"/>
          </p:cNvSpPr>
          <p:nvPr/>
        </p:nvSpPr>
        <p:spPr>
          <a:xfrm>
            <a:off x="11144250" y="63722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75655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75655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756557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1C38FB-1DAB-4BDB-8B1F-0EC2A1B84AFC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10477500" cy="409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250" b="0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The new CEO needs a clear view of product performance and sales patterns.</a:t>
            </a:r>
          </a:p>
          <a:p>
            <a:endParaRPr sz="2250" b="0">
              <a:solidFill>
                <a:srgbClr val="35251D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2250" b="0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This analysis identifies the products that earn the most, the strongest sales periods, and actions to test for improving sales.</a:t>
            </a:r>
          </a:p>
        </p:txBody>
      </p:sp>
    </p:spTree>
    <p:extLst>
      <p:ext uri="{BB962C8B-B14F-4D97-AF65-F5344CB8AC3E}">
        <p14:creationId xmlns:p14="http://schemas.microsoft.com/office/powerpoint/2010/main" val="378701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70C0EF-5FBB-4C75-8BF0-CF2B6D879548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Analysis scope and measures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FA777A-143B-49B7-B106-C0FDD32E52AB}"/>
              </a:ext>
            </a:extLst>
          </p:cNvPr>
          <p:cNvSpPr>
            <a:spLocks noGrp="1"/>
          </p:cNvSpPr>
          <p:nvPr/>
        </p:nvSpPr>
        <p:spPr>
          <a:xfrm>
            <a:off x="11144250" y="63722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75655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75655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756557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A316BE-A21B-4653-B2FD-5DF5266392FF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10477500" cy="409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250" b="0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 dirty="0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January–June 2023 across three stores</a:t>
            </a:r>
          </a:p>
          <a:p>
            <a:endParaRPr sz="2250" b="0" dirty="0">
              <a:solidFill>
                <a:srgbClr val="35251D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2250" b="0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 dirty="0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Revenue: sum of the processed revenue field</a:t>
            </a:r>
          </a:p>
          <a:p>
            <a:pPr>
              <a:defRPr sz="2250" b="0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 dirty="0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Units sold: sum of </a:t>
            </a:r>
            <a:r>
              <a:rPr sz="2250" b="0" dirty="0" err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units_sold</a:t>
            </a:r>
            <a:endParaRPr sz="2250" b="0" dirty="0">
              <a:solidFill>
                <a:srgbClr val="35251D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2250" b="0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 dirty="0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Sales count: sum of </a:t>
            </a:r>
            <a:r>
              <a:rPr sz="2250" b="0" dirty="0" err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number_of_sales</a:t>
            </a:r>
            <a:endParaRPr sz="2250" b="0" dirty="0">
              <a:solidFill>
                <a:srgbClr val="35251D"/>
              </a:solidFill>
              <a:latin typeface="DejaVu Sans"/>
              <a:ea typeface="DejaVu Sans"/>
              <a:cs typeface="DejaVu Sans"/>
            </a:endParaRPr>
          </a:p>
          <a:p>
            <a:endParaRPr sz="2250" b="0" dirty="0">
              <a:solidFill>
                <a:srgbClr val="35251D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2250" b="0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endParaRPr sz="2250" b="0" dirty="0">
              <a:solidFill>
                <a:srgbClr val="35251D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141793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992632-47CC-483C-899E-E643CB5C0EFF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Sales overview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6364D2-785D-4B0B-8559-48EB6F4039FA}"/>
              </a:ext>
            </a:extLst>
          </p:cNvPr>
          <p:cNvSpPr>
            <a:spLocks noGrp="1"/>
          </p:cNvSpPr>
          <p:nvPr/>
        </p:nvSpPr>
        <p:spPr>
          <a:xfrm>
            <a:off x="11144250" y="63722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75655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75655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756557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76E159-6510-4035-B817-D205E4EAA4CB}"/>
              </a:ext>
            </a:extLst>
          </p:cNvPr>
          <p:cNvSpPr>
            <a:spLocks noGrp="1"/>
          </p:cNvSpPr>
          <p:nvPr/>
        </p:nvSpPr>
        <p:spPr>
          <a:xfrm>
            <a:off x="666750" y="1905000"/>
            <a:ext cx="10477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5400" b="1">
                <a:solidFill>
                  <a:srgbClr val="94654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5400" b="1">
                <a:solidFill>
                  <a:srgbClr val="946544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946544"/>
                </a:solidFill>
                <a:latin typeface="DejaVu Sans"/>
                <a:ea typeface="DejaVu Sans"/>
                <a:cs typeface="DejaVu Sans"/>
              </a:rPr>
              <a:t>698,812.33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3C5A53-1B25-46B1-88E1-AB30BBC1DA4F}"/>
              </a:ext>
            </a:extLst>
          </p:cNvPr>
          <p:cNvSpPr>
            <a:spLocks noGrp="1"/>
          </p:cNvSpPr>
          <p:nvPr/>
        </p:nvSpPr>
        <p:spPr>
          <a:xfrm>
            <a:off x="685800" y="2971800"/>
            <a:ext cx="95250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00" b="0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Total revenue · currency units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388A4D-87FA-4F0E-B1BA-E667649B881E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000" b="0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000" b="0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214,470 items sold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F5F96F-24E6-49A6-8455-F76385187160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000" b="0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000" b="0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149,116 sales count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E02EFA-BDC5-4C64-A2E0-B377609A615A}"/>
              </a:ext>
            </a:extLst>
          </p:cNvPr>
          <p:cNvSpPr>
            <a:spLocks noGrp="1"/>
          </p:cNvSpPr>
          <p:nvPr/>
        </p:nvSpPr>
        <p:spPr>
          <a:xfrm>
            <a:off x="685800" y="582930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75655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500" b="0">
                <a:solidFill>
                  <a:srgbClr val="756557"/>
                </a:solidFill>
                <a:latin typeface="DejaVu Sans"/>
                <a:ea typeface="DejaVu Sans"/>
                <a:cs typeface="DejaVu Sans"/>
              </a:defRPr>
            </a:pPr>
            <a:endParaRPr sz="1500" b="0" dirty="0">
              <a:solidFill>
                <a:srgbClr val="756557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414941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4948455-7A55-473B-A2A0-045AD0E6C393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Revenue more than doubled from January to June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12ABE3-BD68-4EB9-BF96-0C2050DE888D}"/>
              </a:ext>
            </a:extLst>
          </p:cNvPr>
          <p:cNvSpPr>
            <a:spLocks noGrp="1"/>
          </p:cNvSpPr>
          <p:nvPr/>
        </p:nvSpPr>
        <p:spPr>
          <a:xfrm>
            <a:off x="11144250" y="63722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75655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75655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756557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7749F9E2-11E1-465C-A3C4-0411CEAC2D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9622498"/>
              </p:ext>
            </p:extLst>
          </p:nvPr>
        </p:nvGraphicFramePr>
        <p:xfrm>
          <a:off x="609600" y="1504950"/>
          <a:ext cx="8096250" cy="4286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68D5AE8-2721-4A77-A870-4B119FB30D46}"/>
              </a:ext>
            </a:extLst>
          </p:cNvPr>
          <p:cNvSpPr>
            <a:spLocks noGrp="1"/>
          </p:cNvSpPr>
          <p:nvPr/>
        </p:nvSpPr>
        <p:spPr>
          <a:xfrm>
            <a:off x="9048750" y="1952625"/>
            <a:ext cx="2476500" cy="3333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June revenue</a:t>
            </a:r>
          </a:p>
          <a:p>
            <a:pPr>
              <a:def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166,485.88</a:t>
            </a:r>
          </a:p>
          <a:p>
            <a:endParaRPr sz="2100" b="1">
              <a:solidFill>
                <a:srgbClr val="35251D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103.8% above January</a:t>
            </a:r>
          </a:p>
        </p:txBody>
      </p:sp>
    </p:spTree>
    <p:extLst>
      <p:ext uri="{BB962C8B-B14F-4D97-AF65-F5344CB8AC3E}">
        <p14:creationId xmlns:p14="http://schemas.microsoft.com/office/powerpoint/2010/main" val="1289348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07FCB0E-589B-4E54-8045-EA4601E45F7F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Coffee and tea contribute 66.7% of revenue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1B2818-29E3-4C52-9F06-F7497EEDB0C6}"/>
              </a:ext>
            </a:extLst>
          </p:cNvPr>
          <p:cNvSpPr>
            <a:spLocks noGrp="1"/>
          </p:cNvSpPr>
          <p:nvPr/>
        </p:nvSpPr>
        <p:spPr>
          <a:xfrm>
            <a:off x="11144250" y="63722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75655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75655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756557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13E87D1F-038D-415B-864C-AA4ECC6BED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930113"/>
              </p:ext>
            </p:extLst>
          </p:nvPr>
        </p:nvGraphicFramePr>
        <p:xfrm>
          <a:off x="609600" y="1504950"/>
          <a:ext cx="8096250" cy="4286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6578296-F43B-4109-B77E-439B051E4F0C}"/>
              </a:ext>
            </a:extLst>
          </p:cNvPr>
          <p:cNvSpPr>
            <a:spLocks noGrp="1"/>
          </p:cNvSpPr>
          <p:nvPr/>
        </p:nvSpPr>
        <p:spPr>
          <a:xfrm>
            <a:off x="9048750" y="1952625"/>
            <a:ext cx="2476500" cy="3333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Coffee</a:t>
            </a:r>
          </a:p>
          <a:p>
            <a:pPr>
              <a:def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38.6%</a:t>
            </a:r>
          </a:p>
          <a:p>
            <a:endParaRPr sz="2100" b="1">
              <a:solidFill>
                <a:srgbClr val="35251D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Tea</a:t>
            </a:r>
          </a:p>
          <a:p>
            <a:pPr>
              <a:def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28.1%</a:t>
            </a:r>
          </a:p>
        </p:txBody>
      </p:sp>
    </p:spTree>
    <p:extLst>
      <p:ext uri="{BB962C8B-B14F-4D97-AF65-F5344CB8AC3E}">
        <p14:creationId xmlns:p14="http://schemas.microsoft.com/office/powerpoint/2010/main" val="855648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8D77C6-8BEE-45D6-A1FF-3F46AC8BD06C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Barista Espresso leads product-type revenue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61BC0E-76D7-41CD-9D20-C021E15C8549}"/>
              </a:ext>
            </a:extLst>
          </p:cNvPr>
          <p:cNvSpPr>
            <a:spLocks noGrp="1"/>
          </p:cNvSpPr>
          <p:nvPr/>
        </p:nvSpPr>
        <p:spPr>
          <a:xfrm>
            <a:off x="11144250" y="63722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75655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75655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756557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56E2A274-5EAD-48D4-91D7-51A00EABF8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1465936"/>
              </p:ext>
            </p:extLst>
          </p:nvPr>
        </p:nvGraphicFramePr>
        <p:xfrm>
          <a:off x="609600" y="1504950"/>
          <a:ext cx="8096250" cy="4286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6947EA6-3675-4101-907E-6BF331D69991}"/>
              </a:ext>
            </a:extLst>
          </p:cNvPr>
          <p:cNvSpPr>
            <a:spLocks noGrp="1"/>
          </p:cNvSpPr>
          <p:nvPr/>
        </p:nvSpPr>
        <p:spPr>
          <a:xfrm>
            <a:off x="9048750" y="1952625"/>
            <a:ext cx="2476500" cy="3333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Barista Espresso</a:t>
            </a:r>
          </a:p>
          <a:p>
            <a:pPr>
              <a:def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91,406.20</a:t>
            </a:r>
          </a:p>
          <a:p>
            <a:endParaRPr sz="2100" b="1">
              <a:solidFill>
                <a:srgbClr val="35251D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13.1 percent of total revenue</a:t>
            </a:r>
          </a:p>
        </p:txBody>
      </p:sp>
    </p:spTree>
    <p:extLst>
      <p:ext uri="{BB962C8B-B14F-4D97-AF65-F5344CB8AC3E}">
        <p14:creationId xmlns:p14="http://schemas.microsoft.com/office/powerpoint/2010/main" val="1952896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FABFD8A-EC8B-4D35-9653-85088882642E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Brewed Chai tea leads product-type unit sales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91CCD0-2838-4D01-9232-1EFD18CC4386}"/>
              </a:ext>
            </a:extLst>
          </p:cNvPr>
          <p:cNvSpPr>
            <a:spLocks noGrp="1"/>
          </p:cNvSpPr>
          <p:nvPr/>
        </p:nvSpPr>
        <p:spPr>
          <a:xfrm>
            <a:off x="11144250" y="63722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75655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75655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756557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EC8FA358-F68E-4DBB-B4FF-424A7C61A8D7}"/>
              </a:ext>
            </a:extLst>
          </p:cNvPr>
          <p:cNvGraphicFramePr/>
          <p:nvPr/>
        </p:nvGraphicFramePr>
        <p:xfrm>
          <a:off x="609600" y="1504950"/>
          <a:ext cx="8096250" cy="4286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0BF44E1-DD5F-4A5A-AB94-922936386593}"/>
              </a:ext>
            </a:extLst>
          </p:cNvPr>
          <p:cNvSpPr>
            <a:spLocks noGrp="1"/>
          </p:cNvSpPr>
          <p:nvPr/>
        </p:nvSpPr>
        <p:spPr>
          <a:xfrm>
            <a:off x="9048750" y="1952625"/>
            <a:ext cx="2476500" cy="3333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dirty="0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Brewed Chai tea</a:t>
            </a:r>
          </a:p>
          <a:p>
            <a:pPr>
              <a:def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dirty="0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26,250 units</a:t>
            </a:r>
          </a:p>
          <a:p>
            <a:endParaRPr sz="2100" b="1" dirty="0">
              <a:solidFill>
                <a:srgbClr val="35251D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endParaRPr sz="2100" b="1" dirty="0">
              <a:solidFill>
                <a:srgbClr val="35251D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605648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B76118A-16CC-4F21-BA21-FFA580616847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Morning accounts for 55.6% of revenue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3BFC5-DAB3-467B-9185-4272F8008369}"/>
              </a:ext>
            </a:extLst>
          </p:cNvPr>
          <p:cNvSpPr>
            <a:spLocks noGrp="1"/>
          </p:cNvSpPr>
          <p:nvPr/>
        </p:nvSpPr>
        <p:spPr>
          <a:xfrm>
            <a:off x="11144250" y="63722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75655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75655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756557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83570753-CF18-4EAC-B1A9-23E82AA71B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991618"/>
              </p:ext>
            </p:extLst>
          </p:nvPr>
        </p:nvGraphicFramePr>
        <p:xfrm>
          <a:off x="609600" y="1504950"/>
          <a:ext cx="8096250" cy="4286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69E3CB6-682E-48D5-8532-3046AA0A7EA3}"/>
              </a:ext>
            </a:extLst>
          </p:cNvPr>
          <p:cNvSpPr>
            <a:spLocks noGrp="1"/>
          </p:cNvSpPr>
          <p:nvPr/>
        </p:nvSpPr>
        <p:spPr>
          <a:xfrm>
            <a:off x="9048750" y="1952625"/>
            <a:ext cx="2476500" cy="3333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Morning</a:t>
            </a:r>
          </a:p>
          <a:p>
            <a:pPr>
              <a:def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388,288.67</a:t>
            </a:r>
          </a:p>
          <a:p>
            <a:endParaRPr sz="2100" b="1">
              <a:solidFill>
                <a:srgbClr val="35251D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Evening</a:t>
            </a:r>
          </a:p>
          <a:p>
            <a:pPr>
              <a:def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9.4% of revenue</a:t>
            </a:r>
          </a:p>
        </p:txBody>
      </p:sp>
    </p:spTree>
    <p:extLst>
      <p:ext uri="{BB962C8B-B14F-4D97-AF65-F5344CB8AC3E}">
        <p14:creationId xmlns:p14="http://schemas.microsoft.com/office/powerpoint/2010/main" val="1694648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749EA1F-D6C1-4786-BC2A-FF1650588E93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Weekday totals are close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0A5EB5-E791-478E-BFB3-6273A0D27D34}"/>
              </a:ext>
            </a:extLst>
          </p:cNvPr>
          <p:cNvSpPr>
            <a:spLocks noGrp="1"/>
          </p:cNvSpPr>
          <p:nvPr/>
        </p:nvSpPr>
        <p:spPr>
          <a:xfrm>
            <a:off x="11144250" y="63722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75655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75655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756557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BEFB804C-BACE-4BA1-A2E0-AB83B8E4FC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982614"/>
              </p:ext>
            </p:extLst>
          </p:nvPr>
        </p:nvGraphicFramePr>
        <p:xfrm>
          <a:off x="609600" y="1504950"/>
          <a:ext cx="8096250" cy="4286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3AC0FD5-6188-4409-B432-413615B25C9D}"/>
              </a:ext>
            </a:extLst>
          </p:cNvPr>
          <p:cNvSpPr>
            <a:spLocks noGrp="1"/>
          </p:cNvSpPr>
          <p:nvPr/>
        </p:nvSpPr>
        <p:spPr>
          <a:xfrm>
            <a:off x="9048750" y="1952625"/>
            <a:ext cx="2476500" cy="3333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Monday leads</a:t>
            </a:r>
          </a:p>
          <a:p>
            <a:pPr>
              <a:def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101,677.28</a:t>
            </a:r>
          </a:p>
          <a:p>
            <a:endParaRPr sz="2100" b="1">
              <a:solidFill>
                <a:srgbClr val="35251D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Saturday</a:t>
            </a:r>
          </a:p>
          <a:p>
            <a:pPr>
              <a:def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96,894.48</a:t>
            </a:r>
          </a:p>
        </p:txBody>
      </p:sp>
    </p:spTree>
    <p:extLst>
      <p:ext uri="{BB962C8B-B14F-4D97-AF65-F5344CB8AC3E}">
        <p14:creationId xmlns:p14="http://schemas.microsoft.com/office/powerpoint/2010/main" val="1735451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280E74A-EB0E-4FBE-8A66-0161232756FF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Revenue is balanced across the three stores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4AB65A-1630-4574-943B-72FDC11DD970}"/>
              </a:ext>
            </a:extLst>
          </p:cNvPr>
          <p:cNvSpPr>
            <a:spLocks noGrp="1"/>
          </p:cNvSpPr>
          <p:nvPr/>
        </p:nvSpPr>
        <p:spPr>
          <a:xfrm>
            <a:off x="11144250" y="63722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75655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75655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756557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F48EDED7-D4E4-4D95-98CB-029FC1430F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9232179"/>
              </p:ext>
            </p:extLst>
          </p:nvPr>
        </p:nvGraphicFramePr>
        <p:xfrm>
          <a:off x="609600" y="1504950"/>
          <a:ext cx="8096250" cy="4286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FBB6B118-254D-499A-B1E0-DA0FF64CF4BD}"/>
              </a:ext>
            </a:extLst>
          </p:cNvPr>
          <p:cNvSpPr>
            <a:spLocks noGrp="1"/>
          </p:cNvSpPr>
          <p:nvPr/>
        </p:nvSpPr>
        <p:spPr>
          <a:xfrm>
            <a:off x="9048750" y="1952625"/>
            <a:ext cx="2476500" cy="3333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Hell’s Kitchen</a:t>
            </a:r>
          </a:p>
          <a:p>
            <a:pPr>
              <a:def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33.8%</a:t>
            </a:r>
          </a:p>
          <a:p>
            <a:endParaRPr sz="2100" b="1">
              <a:solidFill>
                <a:srgbClr val="35251D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Astoria</a:t>
            </a:r>
          </a:p>
          <a:p>
            <a:pPr>
              <a:def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33.2%</a:t>
            </a:r>
          </a:p>
          <a:p>
            <a:endParaRPr sz="2100" b="1">
              <a:solidFill>
                <a:srgbClr val="35251D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Lower Manhattan</a:t>
            </a:r>
          </a:p>
          <a:p>
            <a:pPr>
              <a:def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32.9%</a:t>
            </a:r>
          </a:p>
        </p:txBody>
      </p:sp>
    </p:spTree>
    <p:extLst>
      <p:ext uri="{BB962C8B-B14F-4D97-AF65-F5344CB8AC3E}">
        <p14:creationId xmlns:p14="http://schemas.microsoft.com/office/powerpoint/2010/main" val="1178208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C43484-2AEE-48D3-92D2-7C84FCF916CB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Recommendations to test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EDAAE0-3A97-4728-9E00-E08831F5435D}"/>
              </a:ext>
            </a:extLst>
          </p:cNvPr>
          <p:cNvSpPr>
            <a:spLocks noGrp="1"/>
          </p:cNvSpPr>
          <p:nvPr/>
        </p:nvSpPr>
        <p:spPr>
          <a:xfrm>
            <a:off x="11144250" y="63722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75655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75655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756557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12EC91-11F8-4034-AF02-BA87BA962B65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10477500" cy="409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250" b="0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Maintain stock of leading drinks and review stockouts during mornings.</a:t>
            </a:r>
          </a:p>
          <a:p>
            <a:endParaRPr sz="2250" b="0">
              <a:solidFill>
                <a:srgbClr val="35251D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2250" b="0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Test a drink-and-bakery offer during slower periods. Track revenue per hour and margin.</a:t>
            </a:r>
          </a:p>
          <a:p>
            <a:endParaRPr sz="2250" b="0">
              <a:solidFill>
                <a:srgbClr val="35251D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2250" b="0">
                <a:solidFill>
                  <a:srgbClr val="35251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35251D"/>
                </a:solidFill>
                <a:latin typeface="DejaVu Sans"/>
                <a:ea typeface="DejaVu Sans"/>
                <a:cs typeface="DejaVu Sans"/>
              </a:rPr>
              <a:t>Review low-selling products before reducing stock. Check demand, shelf life and profit margin.</a:t>
            </a:r>
          </a:p>
        </p:txBody>
      </p:sp>
    </p:spTree>
    <p:extLst>
      <p:ext uri="{BB962C8B-B14F-4D97-AF65-F5344CB8AC3E}">
        <p14:creationId xmlns:p14="http://schemas.microsoft.com/office/powerpoint/2010/main" val="1513263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25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9C584F9-1B89-40D1-BDC6-D8C1973CE82A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F6F0E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F6F0E6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6F0E6"/>
                </a:solidFill>
                <a:latin typeface="DejaVu Sans"/>
                <a:ea typeface="DejaVu Sans"/>
                <a:cs typeface="DejaVu Sans"/>
              </a:rPr>
              <a:t>Discussion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51C802-3EE7-4579-95C0-325F1AAEC2BE}"/>
              </a:ext>
            </a:extLst>
          </p:cNvPr>
          <p:cNvSpPr>
            <a:spLocks noGrp="1"/>
          </p:cNvSpPr>
          <p:nvPr/>
        </p:nvSpPr>
        <p:spPr>
          <a:xfrm>
            <a:off x="11144250" y="63722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F6F0E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F6F0E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6F0E6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0DBFBE-83D5-4A7F-AA75-05CCBCCC7F2B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10477500" cy="2095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125" b="1">
                <a:solidFill>
                  <a:srgbClr val="F6F0E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4125" b="1">
                <a:solidFill>
                  <a:srgbClr val="F6F0E6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F6F0E6"/>
                </a:solidFill>
                <a:latin typeface="DejaVu Sans"/>
                <a:ea typeface="DejaVu Sans"/>
                <a:cs typeface="DejaVu Sans"/>
              </a:rPr>
              <a:t>Which sales improvement</a:t>
            </a:r>
          </a:p>
          <a:p>
            <a:pPr>
              <a:defRPr sz="4125" b="1">
                <a:solidFill>
                  <a:srgbClr val="F6F0E6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F6F0E6"/>
                </a:solidFill>
                <a:latin typeface="DejaVu Sans"/>
                <a:ea typeface="DejaVu Sans"/>
                <a:cs typeface="DejaVu Sans"/>
              </a:rPr>
              <a:t>should we test first?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E07785-7FA1-4E9B-8F31-BF6368BC07F8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100012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D7B89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250" b="0">
                <a:solidFill>
                  <a:srgbClr val="D7B89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D7B89B"/>
                </a:solidFill>
                <a:latin typeface="DejaVu Sans"/>
                <a:ea typeface="DejaVu Sans"/>
                <a:cs typeface="DejaVu Sans"/>
              </a:rPr>
              <a:t>Morning availability or a promotion during slower periods</a:t>
            </a:r>
          </a:p>
        </p:txBody>
      </p:sp>
    </p:spTree>
    <p:extLst>
      <p:ext uri="{BB962C8B-B14F-4D97-AF65-F5344CB8AC3E}">
        <p14:creationId xmlns:p14="http://schemas.microsoft.com/office/powerpoint/2010/main" val="138380136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1030</Words>
  <Application>Microsoft Office PowerPoint</Application>
  <DocSecurity>0</DocSecurity>
  <PresentationFormat>Widescreen</PresentationFormat>
  <Paragraphs>118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Aptos</vt:lpstr>
      <vt:lpstr>DejaVu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ACCER</cp:lastModifiedBy>
  <cp:revision>3</cp:revision>
  <dcterms:created xsi:type="dcterms:W3CDTF">2026-10-11T19:34:49Z</dcterms:created>
  <dcterms:modified xsi:type="dcterms:W3CDTF">2026-10-11T19:53:54Z</dcterms:modified>
</cp:coreProperties>
</file>